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210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0" y="1920240"/>
            <a:ext cx="274320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混凝土裂缝图像筛查器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F4F8"/>
                </a:solidFill>
                <a:latin typeface="Microsoft YaHei"/>
              </a:defRPr>
            </a:pPr>
            <a:r>
              <a:t>Concrete Crack Image Screener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F4F8"/>
                </a:solidFill>
                <a:latin typeface="Microsoft YaHei"/>
              </a:defRPr>
            </a:pPr>
            <a:r>
              <a:t>4-Model Comparison: Majority Baseline / FCNet / SmallCNN / Pretrained ResNet18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926080"/>
            <a:ext cx="2286000" cy="1097280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使用者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F4F8"/>
                </a:solidFill>
                <a:latin typeface="Microsoft YaHei"/>
              </a:defRPr>
            </a:pPr>
            <a:r>
              <a:t>设施维护团队</a:t>
            </a:r>
            <a:br/>
            <a:r>
              <a:t>大量混凝土照片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926080"/>
            <a:ext cx="2286000" cy="1097280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2461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F4F8"/>
                </a:solidFill>
                <a:latin typeface="Microsoft YaHei"/>
              </a:defRPr>
            </a:pPr>
            <a:r>
              <a:t>40,000 张真实图像</a:t>
            </a:r>
            <a:br/>
            <a:r>
              <a:t>227x227 RGB JPEG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926080"/>
            <a:ext cx="2286000" cy="1097280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32461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F4F8"/>
                </a:solidFill>
                <a:latin typeface="Microsoft YaHei"/>
              </a:defRPr>
            </a:pPr>
            <a:r>
              <a:t>Positive / Negative</a:t>
            </a:r>
            <a:br/>
            <a:r>
              <a:t>二分类 + 漏检列表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F4F8"/>
                </a:solidFill>
                <a:latin typeface="Microsoft YaHei"/>
              </a:defRPr>
            </a:pPr>
            <a:r>
              <a:t>D2 Milestone | 超参数优化 + 全连接 vs CNN 结构对比 + 预训练模型微调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5A82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00584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95C"/>
                </a:solidFill>
                <a:latin typeface="Microsoft YaHei"/>
              </a:defRPr>
            </a:pPr>
            <a:r>
              <a:t>问题与使用者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YaHei"/>
              </a:defRPr>
            </a:pPr>
            <a:r>
              <a:t>设施维护团队的裂缝筛查需求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69164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95C"/>
                </a:solidFill>
                <a:latin typeface="Microsoft YaHei"/>
              </a:defRPr>
            </a:pPr>
            <a:r>
              <a:t>方法：4 模型对比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YaHei"/>
              </a:defRPr>
            </a:pPr>
            <a:r>
              <a:t>多数类基线 / FCNet / SmallCNN / ResNet18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37744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95C"/>
                </a:solidFill>
                <a:latin typeface="Microsoft YaHei"/>
              </a:defRPr>
            </a:pPr>
            <a:r>
              <a:t>关键证据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060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YaHei"/>
              </a:defRPr>
            </a:pPr>
            <a:r>
              <a:t>同一测试集上的 4 模型指标对比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06324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95C"/>
                </a:solidFill>
                <a:latin typeface="Microsoft YaHei"/>
              </a:defRPr>
            </a:pPr>
            <a:r>
              <a:t>失败案例分析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918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YaHei"/>
              </a:defRPr>
            </a:pPr>
            <a:r>
              <a:t>FCNet 全 Negative / SmallCNN 20 张误报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749039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490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95C"/>
                </a:solidFill>
                <a:latin typeface="Microsoft YaHei"/>
              </a:defRPr>
            </a:pPr>
            <a:r>
              <a:t>限制与下一步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77639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YaHei"/>
              </a:defRPr>
            </a:pPr>
            <a:r>
              <a:t>产品边界 + 最小改进方向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480560"/>
            <a:ext cx="8229600" cy="457200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核心问题：在有限数据集下，哪种方法能实现性能突破？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65A82"/>
                </a:solidFill>
                <a:latin typeface="Microsoft YaHei"/>
              </a:defRPr>
            </a:pPr>
            <a:r>
              <a:t>问题与使用者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777240"/>
            <a:ext cx="4023360" cy="32004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4023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1295C"/>
                </a:solidFill>
                <a:latin typeface="Microsoft YaHei"/>
              </a:defRPr>
            </a:pPr>
            <a:r>
              <a:t>设施维护团队收到大量混凝土表面照片</a:t>
            </a:r>
          </a:p>
          <a:p>
            <a:pPr>
              <a:spcAft>
                <a:spcPts val="300"/>
              </a:spcAft>
              <a:defRPr sz="1000">
                <a:solidFill>
                  <a:srgbClr val="21295C"/>
                </a:solidFill>
                <a:latin typeface="Microsoft YaHei"/>
              </a:defRPr>
            </a:pPr>
            <a:r>
              <a:t>人工逐张查看耗时，光照/纹理/阴影可能类似裂缝</a:t>
            </a:r>
          </a:p>
          <a:p>
            <a:pPr>
              <a:spcAft>
                <a:spcPts val="300"/>
              </a:spcAft>
              <a:defRPr sz="1000">
                <a:solidFill>
                  <a:srgbClr val="21295C"/>
                </a:solidFill>
                <a:latin typeface="Microsoft YaHei"/>
              </a:defRPr>
            </a:pPr>
            <a:r>
              <a:t>需要一个初筛工具，把可能有裂缝的照片优先交给人员复核</a:t>
            </a:r>
          </a:p>
          <a:p>
            <a:pPr>
              <a:spcAft>
                <a:spcPts val="300"/>
              </a:spcAft>
              <a:defRPr sz="1000">
                <a:solidFill>
                  <a:srgbClr val="21295C"/>
                </a:solidFill>
                <a:latin typeface="Microsoft YaHei"/>
              </a:defRPr>
            </a:pPr>
            <a:r>
              <a:t>最重要的错误：漏检裂缝 (False Negative)</a:t>
            </a:r>
          </a:p>
          <a:p>
            <a:pPr>
              <a:spcAft>
                <a:spcPts val="300"/>
              </a:spcAft>
              <a:defRPr sz="1000">
                <a:solidFill>
                  <a:srgbClr val="21295C"/>
                </a:solidFill>
                <a:latin typeface="Microsoft YaHei"/>
              </a:defRPr>
            </a:pPr>
            <a:r>
              <a:t>  -&gt; 需要人工查看的照片没有被优先发现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777240"/>
            <a:ext cx="4023360" cy="32004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使用者与产品边界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143000"/>
            <a:ext cx="4023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1295C"/>
                </a:solidFill>
                <a:latin typeface="Microsoft YaHei"/>
              </a:defRPr>
            </a:pPr>
            <a:r>
              <a:t>使用者：设施维护团队 (非 AI 工程师)</a:t>
            </a:r>
          </a:p>
          <a:p>
            <a:pPr>
              <a:spcAft>
                <a:spcPts val="300"/>
              </a:spcAft>
              <a:defRPr sz="1000">
                <a:solidFill>
                  <a:srgbClr val="21295C"/>
                </a:solidFill>
                <a:latin typeface="Microsoft YaHei"/>
              </a:defRPr>
            </a:pPr>
            <a:r>
              <a:t>输入：227x227 RGB 混凝土表面图像</a:t>
            </a:r>
          </a:p>
          <a:p>
            <a:pPr>
              <a:spcAft>
                <a:spcPts val="300"/>
              </a:spcAft>
              <a:defRPr sz="1000">
                <a:solidFill>
                  <a:srgbClr val="21295C"/>
                </a:solidFill>
                <a:latin typeface="Microsoft YaHei"/>
              </a:defRPr>
            </a:pPr>
            <a:r>
              <a:t>输出：Positive (有裂缝) / Negative (无裂缝)</a:t>
            </a:r>
          </a:p>
          <a:p>
            <a:pPr>
              <a:spcAft>
                <a:spcPts val="300"/>
              </a:spcAft>
              <a:defRPr sz="1000">
                <a:solidFill>
                  <a:srgbClr val="21295C"/>
                </a:solidFill>
                <a:latin typeface="Microsoft YaHei"/>
              </a:defRPr>
            </a:pPr>
            <a:r>
              <a:t>产品边界：初筛工具，非结构安全鉴定</a:t>
            </a:r>
          </a:p>
          <a:p>
            <a:pPr>
              <a:spcAft>
                <a:spcPts val="300"/>
              </a:spcAft>
              <a:defRPr sz="1000">
                <a:solidFill>
                  <a:srgbClr val="21295C"/>
                </a:solidFill>
                <a:latin typeface="Microsoft YaHei"/>
              </a:defRPr>
            </a:pPr>
            <a:r>
              <a:t>  -&gt; 最终判断仍由现场人员或工程师完成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514600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5A82"/>
                </a:solidFill>
                <a:latin typeface="Microsoft YaHei"/>
              </a:defRPr>
            </a:pPr>
            <a:r>
              <a:t>数据样本示例 (Kaggle Concrete Crack Images, 227x227 RGB)</a:t>
            </a:r>
          </a:p>
        </p:txBody>
      </p:sp>
      <p:pic>
        <p:nvPicPr>
          <p:cNvPr id="9" name="Picture 8" descr="00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914400" cy="914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" y="3675887"/>
            <a:ext cx="1005840" cy="18288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Positive (有裂缝)</a:t>
            </a:r>
          </a:p>
        </p:txBody>
      </p:sp>
      <p:pic>
        <p:nvPicPr>
          <p:cNvPr id="11" name="Picture 10" descr="000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19" y="2743200"/>
            <a:ext cx="914400" cy="914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828799" y="3675887"/>
            <a:ext cx="1005840" cy="18288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Positive (有裂缝)</a:t>
            </a:r>
          </a:p>
        </p:txBody>
      </p:sp>
      <p:pic>
        <p:nvPicPr>
          <p:cNvPr id="13" name="Picture 12" descr="000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743200"/>
            <a:ext cx="914400" cy="9144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709160" y="3675887"/>
            <a:ext cx="1005840" cy="182880"/>
          </a:xfrm>
          <a:prstGeom prst="roundRect">
            <a:avLst/>
          </a:prstGeom>
          <a:solidFill>
            <a:srgbClr val="2D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Negative (无裂缝)</a:t>
            </a:r>
          </a:p>
        </p:txBody>
      </p:sp>
      <p:pic>
        <p:nvPicPr>
          <p:cNvPr id="15" name="Picture 14" descr="0000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2743200"/>
            <a:ext cx="914400" cy="9144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852160" y="3675887"/>
            <a:ext cx="1005840" cy="182880"/>
          </a:xfrm>
          <a:prstGeom prst="roundRect">
            <a:avLst/>
          </a:prstGeom>
          <a:solidFill>
            <a:srgbClr val="2D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Negative (无裂缝)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160520"/>
            <a:ext cx="8412480" cy="822960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224528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E8F4F8"/>
                </a:solidFill>
                <a:latin typeface="Microsoft YaHei"/>
              </a:defRPr>
            </a:pPr>
            <a:r>
              <a:t>来源: Kaggle Surface Crack Detection (CC0) | 规模: 40,000 张 (各 20,000)</a:t>
            </a:r>
          </a:p>
          <a:p>
            <a:pPr>
              <a:spcAft>
                <a:spcPts val="300"/>
              </a:spcAft>
              <a:defRPr sz="900">
                <a:solidFill>
                  <a:srgbClr val="E8F4F8"/>
                </a:solidFill>
                <a:latin typeface="Microsoft YaHei"/>
              </a:defRPr>
            </a:pPr>
            <a:r>
              <a:t>子集: 每类 4,000 -&gt; 训练 3,000 + 测试 1,000 (seed=42) | 泄漏检查: 0 可疑对</a:t>
            </a:r>
          </a:p>
          <a:p>
            <a:pPr>
              <a:spcAft>
                <a:spcPts val="300"/>
              </a:spcAft>
              <a:defRPr sz="900">
                <a:solidFill>
                  <a:srgbClr val="E8F4F8"/>
                </a:solidFill>
                <a:latin typeface="Microsoft YaHei"/>
              </a:defRPr>
            </a:pPr>
            <a:r>
              <a:t>合成数据 80 张/类用于代码验证，真实结果须使用 Kaggle 数据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Microsoft YaHei"/>
              </a:defRPr>
            </a:pPr>
            <a:r>
              <a:t>方法：4 种模型 + 超参数搜索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40080"/>
            <a:ext cx="1965960" cy="365760"/>
          </a:xfrm>
          <a:prstGeom prst="round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1. 多数类基线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87451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r>
              <a:t>不读取图像内容</a:t>
            </a:r>
          </a:p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r>
              <a:t>总预测训练集多数类</a:t>
            </a:r>
          </a:p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r>
              <a:t>参数量: 0</a:t>
            </a:r>
          </a:p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r>
              <a:t>目的: 下限基准</a:t>
            </a:r>
          </a:p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endParaRPr/>
          </a:p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r>
              <a:t>准确率: ~50%</a:t>
            </a:r>
          </a:p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r>
              <a:t>裂缝召回率: 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41448" y="640080"/>
            <a:ext cx="1965960" cy="36576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2. FCNet (全连接)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7168" y="1051560"/>
            <a:ext cx="187451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r>
              <a:t>Flatten -&gt; 3层 Linear</a:t>
            </a:r>
          </a:p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r>
              <a:t>Linear(155529-&gt;256)</a:t>
            </a:r>
          </a:p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r>
              <a:t>Linear(256-&gt;128)</a:t>
            </a:r>
          </a:p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r>
              <a:t>Linear(128-&gt;2)</a:t>
            </a:r>
          </a:p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r>
              <a:t>Dropout(0.5)</a:t>
            </a:r>
          </a:p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endParaRPr/>
          </a:p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r>
              <a:t>参数量: 39.6M</a:t>
            </a:r>
          </a:p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r>
              <a:t>无卷积层, 无空间感知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17136" y="640080"/>
            <a:ext cx="1965960" cy="36576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3. SmallCNN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2856" y="1051560"/>
            <a:ext cx="187451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r>
              <a:t>Conv2d(3,16,3) + ReLU</a:t>
            </a:r>
          </a:p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r>
              <a:t>  -&gt; MaxPool(2)</a:t>
            </a:r>
          </a:p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r>
              <a:t>Conv2d(16,32,3) + ReLU</a:t>
            </a:r>
          </a:p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r>
              <a:t>  -&gt; MaxPool(2)</a:t>
            </a:r>
          </a:p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r>
              <a:t>Conv2d(32,64,3) + ReLU</a:t>
            </a:r>
          </a:p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r>
              <a:t>  -&gt; MaxPool(2)</a:t>
            </a:r>
          </a:p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r>
              <a:t>FC(50176-&gt;128-&gt;2)</a:t>
            </a:r>
          </a:p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r>
              <a:t>参数量: 6.4M | 权重共享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92824" y="640080"/>
            <a:ext cx="1965960" cy="365760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4. Pretrained ResNet18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1051560"/>
            <a:ext cx="187451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r>
              <a:t>ImageNet 预训练权重</a:t>
            </a:r>
          </a:p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r>
              <a:t>冻结骨干网络</a:t>
            </a:r>
          </a:p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r>
              <a:t>仅替换 &amp; 微调 FC 层</a:t>
            </a:r>
          </a:p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r>
              <a:t>Linear(512-&gt;2)</a:t>
            </a:r>
          </a:p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endParaRPr/>
          </a:p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r>
              <a:t>可训练参数: 1,026</a:t>
            </a:r>
          </a:p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r>
              <a:t>迁移学习策略</a:t>
            </a:r>
          </a:p>
          <a:p>
            <a:pPr>
              <a:spcAft>
                <a:spcPts val="300"/>
              </a:spcAft>
              <a:defRPr sz="900">
                <a:solidFill>
                  <a:srgbClr val="21295C"/>
                </a:solidFill>
                <a:latin typeface="Microsoft YaHei"/>
              </a:defRPr>
            </a:pPr>
            <a:r>
              <a:t>有限数据下的突破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461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A82"/>
                </a:solidFill>
                <a:latin typeface="Microsoft YaHei"/>
              </a:defRPr>
            </a:pPr>
            <a:r>
              <a:t>训练曲线对比 (Loss &amp; Accuracy)</a:t>
            </a:r>
          </a:p>
        </p:txBody>
      </p:sp>
      <p:pic>
        <p:nvPicPr>
          <p:cNvPr id="13" name="Picture 12" descr="training_history_c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27125"/>
            <a:ext cx="2651760" cy="103818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4599432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65A82"/>
                </a:solidFill>
                <a:latin typeface="Microsoft YaHei"/>
              </a:defRPr>
            </a:pPr>
            <a:r>
              <a:t>SmallCNN</a:t>
            </a:r>
          </a:p>
        </p:txBody>
      </p:sp>
      <p:pic>
        <p:nvPicPr>
          <p:cNvPr id="15" name="Picture 14" descr="training_history_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527125"/>
            <a:ext cx="2651760" cy="103818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291840" y="4599432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C7293"/>
                </a:solidFill>
                <a:latin typeface="Microsoft YaHei"/>
              </a:defRPr>
            </a:pPr>
            <a:r>
              <a:t>FCNet</a:t>
            </a:r>
          </a:p>
        </p:txBody>
      </p:sp>
      <p:pic>
        <p:nvPicPr>
          <p:cNvPr id="17" name="Picture 16" descr="training_history_pretrain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527125"/>
            <a:ext cx="2651760" cy="10381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26480" y="4599432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1295C"/>
                </a:solidFill>
                <a:latin typeface="Microsoft YaHei"/>
              </a:defRPr>
            </a:pPr>
            <a:r>
              <a:t>ResNet18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公平比较: 同一训练/测试集 (seed=42) | 超参数搜索: lr=[1e-4,1e-3,1e-2] x epochs=[3,5,10] | Adam + CrossEntropyLoss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Microsoft YaHei"/>
              </a:defRPr>
            </a:pPr>
            <a:r>
              <a:t>关键证据：4 模型对比结果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94360"/>
            <a:ext cx="164592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3120" y="594360"/>
            <a:ext cx="1645920" cy="2743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多数类基线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039" y="594360"/>
            <a:ext cx="164592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FCNet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59" y="594360"/>
            <a:ext cx="164592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SmallCNN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79" y="594360"/>
            <a:ext cx="1645920" cy="27432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Pretrained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868680"/>
            <a:ext cx="16459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1295C"/>
                </a:solidFill>
                <a:latin typeface="Microsoft YaHei"/>
              </a:defRPr>
            </a:pPr>
            <a:r>
              <a:t>准确率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868680"/>
            <a:ext cx="16459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1295C"/>
                </a:solidFill>
                <a:latin typeface="Microsoft YaHei"/>
              </a:defRPr>
            </a:pPr>
            <a:r>
              <a:t>0.5000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868680"/>
            <a:ext cx="16459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1295C"/>
                </a:solidFill>
                <a:latin typeface="Microsoft YaHei"/>
              </a:defRPr>
            </a:pPr>
            <a:r>
              <a:t>0.5000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59" y="868680"/>
            <a:ext cx="16459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1295C"/>
                </a:solidFill>
                <a:latin typeface="Microsoft YaHei"/>
              </a:defRPr>
            </a:pPr>
            <a:r>
              <a:t>0.5000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79" y="868680"/>
            <a:ext cx="16459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D8B57"/>
                </a:solidFill>
                <a:latin typeface="Microsoft YaHei"/>
              </a:defRPr>
            </a:pPr>
            <a:r>
              <a:t>1.0000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124712"/>
            <a:ext cx="1645920" cy="256032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1295C"/>
                </a:solidFill>
                <a:latin typeface="Microsoft YaHei"/>
              </a:defRPr>
            </a:pPr>
            <a:r>
              <a:t>精确率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1124712"/>
            <a:ext cx="1645920" cy="256032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1295C"/>
                </a:solidFill>
                <a:latin typeface="Microsoft YaHei"/>
              </a:defRPr>
            </a:pPr>
            <a:r>
              <a:t>0.0000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39" y="1124712"/>
            <a:ext cx="1645920" cy="256032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1295C"/>
                </a:solidFill>
                <a:latin typeface="Microsoft YaHei"/>
              </a:defRPr>
            </a:pPr>
            <a:r>
              <a:t>0.0000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59" y="1124712"/>
            <a:ext cx="1645920" cy="256032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1295C"/>
                </a:solidFill>
                <a:latin typeface="Microsoft YaHei"/>
              </a:defRPr>
            </a:pPr>
            <a:r>
              <a:t>0.5000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79" y="1124712"/>
            <a:ext cx="1645920" cy="256032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D8B57"/>
                </a:solidFill>
                <a:latin typeface="Microsoft YaHei"/>
              </a:defRPr>
            </a:pPr>
            <a:r>
              <a:t>1.0000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380744"/>
            <a:ext cx="16459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CC3333"/>
                </a:solidFill>
                <a:latin typeface="Microsoft YaHei"/>
              </a:defRPr>
            </a:pPr>
            <a:r>
              <a:t>裂缝召回率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20" y="1380744"/>
            <a:ext cx="16459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1295C"/>
                </a:solidFill>
                <a:latin typeface="Microsoft YaHei"/>
              </a:defRPr>
            </a:pPr>
            <a:r>
              <a:t>0.0000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39" y="1380744"/>
            <a:ext cx="16459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1295C"/>
                </a:solidFill>
                <a:latin typeface="Microsoft YaHei"/>
              </a:defRPr>
            </a:pPr>
            <a:r>
              <a:t>0.0000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59" y="1380744"/>
            <a:ext cx="16459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D8B57"/>
                </a:solidFill>
                <a:latin typeface="Microsoft YaHei"/>
              </a:defRPr>
            </a:pPr>
            <a:r>
              <a:t>1.0000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79" y="1380744"/>
            <a:ext cx="16459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D8B57"/>
                </a:solidFill>
                <a:latin typeface="Microsoft YaHei"/>
              </a:defRPr>
            </a:pPr>
            <a:r>
              <a:t>1.0000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1636776"/>
            <a:ext cx="1645920" cy="256032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1295C"/>
                </a:solidFill>
                <a:latin typeface="Microsoft YaHei"/>
              </a:defRPr>
            </a:pPr>
            <a:r>
              <a:t>F1 Score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1636776"/>
            <a:ext cx="1645920" cy="256032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1295C"/>
                </a:solidFill>
                <a:latin typeface="Microsoft YaHei"/>
              </a:defRPr>
            </a:pPr>
            <a:r>
              <a:t>0.0000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39" y="1636776"/>
            <a:ext cx="1645920" cy="256032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1295C"/>
                </a:solidFill>
                <a:latin typeface="Microsoft YaHei"/>
              </a:defRPr>
            </a:pPr>
            <a:r>
              <a:t>0.0000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94959" y="1636776"/>
            <a:ext cx="1645920" cy="256032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1295C"/>
                </a:solidFill>
                <a:latin typeface="Microsoft YaHei"/>
              </a:defRPr>
            </a:pPr>
            <a:r>
              <a:t>0.6667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79" y="1636776"/>
            <a:ext cx="1645920" cy="256032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D8B57"/>
                </a:solidFill>
                <a:latin typeface="Microsoft YaHei"/>
              </a:defRPr>
            </a:pPr>
            <a:r>
              <a:t>1.0000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1892808"/>
            <a:ext cx="16459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CC3333"/>
                </a:solidFill>
                <a:latin typeface="Microsoft YaHei"/>
              </a:defRPr>
            </a:pPr>
            <a:r>
              <a:t>漏检 (FN)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20" y="1892808"/>
            <a:ext cx="16459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1295C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39" y="1892808"/>
            <a:ext cx="16459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1295C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94959" y="1892808"/>
            <a:ext cx="16459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CC3333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79" y="1892808"/>
            <a:ext cx="16459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CC3333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148840"/>
            <a:ext cx="1645920" cy="256032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1295C"/>
                </a:solidFill>
                <a:latin typeface="Microsoft YaHei"/>
              </a:defRPr>
            </a:pPr>
            <a:r>
              <a:t>误报 (FP)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03120" y="2148840"/>
            <a:ext cx="1645920" cy="256032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1295C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49039" y="2148840"/>
            <a:ext cx="1645920" cy="256032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1295C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94959" y="2148840"/>
            <a:ext cx="1645920" cy="256032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1295C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79" y="2148840"/>
            <a:ext cx="1645920" cy="256032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1295C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404872"/>
            <a:ext cx="16459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1295C"/>
                </a:solidFill>
                <a:latin typeface="Microsoft YaHei"/>
              </a:defRPr>
            </a:pPr>
            <a:r>
              <a:t>参数量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03120" y="2404872"/>
            <a:ext cx="16459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1295C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49039" y="2404872"/>
            <a:ext cx="16459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1295C"/>
                </a:solidFill>
                <a:latin typeface="Microsoft YaHei"/>
              </a:defRPr>
            </a:pPr>
            <a:r>
              <a:t>39.6M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94959" y="2404872"/>
            <a:ext cx="16459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1295C"/>
                </a:solidFill>
                <a:latin typeface="Microsoft YaHei"/>
              </a:defRPr>
            </a:pPr>
            <a:r>
              <a:t>6.4M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40879" y="2404872"/>
            <a:ext cx="16459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1295C"/>
                </a:solidFill>
                <a:latin typeface="Microsoft YaHei"/>
              </a:defRPr>
            </a:pPr>
            <a:r>
              <a:t>1,026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2752344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5A82"/>
                </a:solidFill>
                <a:latin typeface="Microsoft YaHei"/>
              </a:defRPr>
            </a:pPr>
            <a:r>
              <a:t>混淆矩阵对比 (测试集: 20 Positive + 20 Negative = 40 张)</a:t>
            </a:r>
          </a:p>
        </p:txBody>
      </p:sp>
      <p:pic>
        <p:nvPicPr>
          <p:cNvPr id="45" name="Picture 44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129" y="2980944"/>
            <a:ext cx="6485740" cy="1645920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457200" y="4672584"/>
            <a:ext cx="8229600" cy="32004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最重要指标: 裂缝召回率 -- 漏检裂缝使需要人工查看的照片未被优先发现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真实失败案例与教训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40080"/>
            <a:ext cx="4023360" cy="32004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案例 1: FCNet 全预测 Negative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E8F4F8"/>
                </a:solidFill>
                <a:latin typeface="Microsoft YaHei"/>
              </a:defRPr>
            </a:pPr>
            <a:r>
              <a:t>现象: FCNet 训练 5 轮后全部预测 Negative</a:t>
            </a:r>
          </a:p>
          <a:p>
            <a:pPr>
              <a:spcAft>
                <a:spcPts val="300"/>
              </a:spcAft>
              <a:defRPr sz="900">
                <a:solidFill>
                  <a:srgbClr val="E8F4F8"/>
                </a:solidFill>
                <a:latin typeface="Microsoft YaHei"/>
              </a:defRPr>
            </a:pPr>
            <a:r>
              <a:t>  -&gt; 准确率 50%, 召回率 0%, 与基线相同</a:t>
            </a:r>
          </a:p>
          <a:p>
            <a:pPr>
              <a:spcAft>
                <a:spcPts val="300"/>
              </a:spcAft>
              <a:defRPr sz="900">
                <a:solidFill>
                  <a:srgbClr val="E8F4F8"/>
                </a:solidFill>
                <a:latin typeface="Microsoft YaHei"/>
              </a:defRPr>
            </a:pPr>
            <a:endParaRPr/>
          </a:p>
          <a:p>
            <a:pPr>
              <a:spcAft>
                <a:spcPts val="300"/>
              </a:spcAft>
              <a:defRPr sz="900">
                <a:solidFill>
                  <a:srgbClr val="E8F4F8"/>
                </a:solidFill>
                <a:latin typeface="Microsoft YaHei"/>
              </a:defRPr>
            </a:pPr>
            <a:r>
              <a:t>原因:</a:t>
            </a:r>
          </a:p>
          <a:p>
            <a:pPr>
              <a:spcAft>
                <a:spcPts val="300"/>
              </a:spcAft>
              <a:defRPr sz="900">
                <a:solidFill>
                  <a:srgbClr val="E8F4F8"/>
                </a:solidFill>
                <a:latin typeface="Microsoft YaHei"/>
              </a:defRPr>
            </a:pPr>
            <a:r>
              <a:t>  - 39.6M 参数, 第一层 155529-&gt;256</a:t>
            </a:r>
          </a:p>
          <a:p>
            <a:pPr>
              <a:spcAft>
                <a:spcPts val="300"/>
              </a:spcAft>
              <a:defRPr sz="900">
                <a:solidFill>
                  <a:srgbClr val="E8F4F8"/>
                </a:solidFill>
                <a:latin typeface="Microsoft YaHei"/>
              </a:defRPr>
            </a:pPr>
            <a:r>
              <a:t>  - 120 张训练图远不足以训练如此大网络</a:t>
            </a:r>
          </a:p>
          <a:p>
            <a:pPr>
              <a:spcAft>
                <a:spcPts val="300"/>
              </a:spcAft>
              <a:defRPr sz="900">
                <a:solidFill>
                  <a:srgbClr val="E8F4F8"/>
                </a:solidFill>
                <a:latin typeface="Microsoft YaHei"/>
              </a:defRPr>
            </a:pPr>
            <a:r>
              <a:t>  - 无卷积层, 展平后丢失空间结构</a:t>
            </a:r>
          </a:p>
          <a:p>
            <a:pPr>
              <a:spcAft>
                <a:spcPts val="300"/>
              </a:spcAft>
              <a:defRPr sz="900">
                <a:solidFill>
                  <a:srgbClr val="E8F4F8"/>
                </a:solidFill>
                <a:latin typeface="Microsoft YaHei"/>
              </a:defRPr>
            </a:pPr>
            <a:endParaRPr/>
          </a:p>
          <a:p>
            <a:pPr>
              <a:spcAft>
                <a:spcPts val="300"/>
              </a:spcAft>
              <a:defRPr sz="900">
                <a:solidFill>
                  <a:srgbClr val="E8F4F8"/>
                </a:solidFill>
                <a:latin typeface="Microsoft YaHei"/>
              </a:defRPr>
            </a:pPr>
            <a:r>
              <a:t>告诉我们: 全连接网络在小数据上欠拟合</a:t>
            </a:r>
          </a:p>
          <a:p>
            <a:pPr>
              <a:spcAft>
                <a:spcPts val="300"/>
              </a:spcAft>
              <a:defRPr sz="900">
                <a:solidFill>
                  <a:srgbClr val="E8F4F8"/>
                </a:solidFill>
                <a:latin typeface="Microsoft YaHei"/>
              </a:defRPr>
            </a:pPr>
            <a:r>
              <a:t>不能证明: FCNet 在大数据集也无效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640080"/>
            <a:ext cx="4023360" cy="320040"/>
          </a:xfrm>
          <a:prstGeom prst="roundRect">
            <a:avLst/>
          </a:prstGeom>
          <a:solidFill>
            <a:srgbClr val="E8A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案例 2: SmallCNN 20 张误报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00584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E8F4F8"/>
                </a:solidFill>
                <a:latin typeface="Microsoft YaHei"/>
              </a:defRPr>
            </a:pPr>
            <a:r>
              <a:t>现象: SmallCNN 将 20 张 Negative 全误报为 Positive</a:t>
            </a:r>
          </a:p>
          <a:p>
            <a:pPr>
              <a:spcAft>
                <a:spcPts val="300"/>
              </a:spcAft>
              <a:defRPr sz="900">
                <a:solidFill>
                  <a:srgbClr val="E8F4F8"/>
                </a:solidFill>
                <a:latin typeface="Microsoft YaHei"/>
              </a:defRPr>
            </a:pPr>
            <a:r>
              <a:t>  误报: 00052.jpg, 00066.jpg, 00046.jpg 等</a:t>
            </a:r>
          </a:p>
          <a:p>
            <a:pPr>
              <a:spcAft>
                <a:spcPts val="300"/>
              </a:spcAft>
              <a:defRPr sz="900">
                <a:solidFill>
                  <a:srgbClr val="E8F4F8"/>
                </a:solidFill>
                <a:latin typeface="Microsoft YaHei"/>
              </a:defRPr>
            </a:pPr>
            <a:r>
              <a:t>  -&gt; 召回率 100% 但精确率仅 50%</a:t>
            </a:r>
          </a:p>
          <a:p>
            <a:pPr>
              <a:spcAft>
                <a:spcPts val="300"/>
              </a:spcAft>
              <a:defRPr sz="900">
                <a:solidFill>
                  <a:srgbClr val="E8F4F8"/>
                </a:solidFill>
                <a:latin typeface="Microsoft YaHei"/>
              </a:defRPr>
            </a:pPr>
            <a:endParaRPr/>
          </a:p>
          <a:p>
            <a:pPr>
              <a:spcAft>
                <a:spcPts val="300"/>
              </a:spcAft>
              <a:defRPr sz="900">
                <a:solidFill>
                  <a:srgbClr val="E8F4F8"/>
                </a:solidFill>
                <a:latin typeface="Microsoft YaHei"/>
              </a:defRPr>
            </a:pPr>
            <a:r>
              <a:t>原因:</a:t>
            </a:r>
          </a:p>
          <a:p>
            <a:pPr>
              <a:spcAft>
                <a:spcPts val="300"/>
              </a:spcAft>
              <a:defRPr sz="900">
                <a:solidFill>
                  <a:srgbClr val="E8F4F8"/>
                </a:solidFill>
                <a:latin typeface="Microsoft YaHei"/>
              </a:defRPr>
            </a:pPr>
            <a:r>
              <a:t>  - 5 轮训练后模型偏向 Positive 预测</a:t>
            </a:r>
          </a:p>
          <a:p>
            <a:pPr>
              <a:spcAft>
                <a:spcPts val="300"/>
              </a:spcAft>
              <a:defRPr sz="900">
                <a:solidFill>
                  <a:srgbClr val="E8F4F8"/>
                </a:solidFill>
                <a:latin typeface="Microsoft YaHei"/>
              </a:defRPr>
            </a:pPr>
            <a:r>
              <a:t>  - 可能学习率过高或训练不足</a:t>
            </a:r>
          </a:p>
          <a:p>
            <a:pPr>
              <a:spcAft>
                <a:spcPts val="300"/>
              </a:spcAft>
              <a:defRPr sz="900">
                <a:solidFill>
                  <a:srgbClr val="E8F4F8"/>
                </a:solidFill>
                <a:latin typeface="Microsoft YaHei"/>
              </a:defRPr>
            </a:pPr>
            <a:r>
              <a:t>  - 超参数搜索可改善此问题</a:t>
            </a:r>
          </a:p>
          <a:p>
            <a:pPr>
              <a:spcAft>
                <a:spcPts val="300"/>
              </a:spcAft>
              <a:defRPr sz="900">
                <a:solidFill>
                  <a:srgbClr val="E8F4F8"/>
                </a:solidFill>
                <a:latin typeface="Microsoft YaHei"/>
              </a:defRPr>
            </a:pPr>
            <a:endParaRPr/>
          </a:p>
          <a:p>
            <a:pPr>
              <a:spcAft>
                <a:spcPts val="300"/>
              </a:spcAft>
              <a:defRPr sz="900">
                <a:solidFill>
                  <a:srgbClr val="E8F4F8"/>
                </a:solidFill>
                <a:latin typeface="Microsoft YaHei"/>
              </a:defRPr>
            </a:pPr>
            <a:r>
              <a:t>告诉我们: CNN 结构有效 (召回 100%)</a:t>
            </a:r>
          </a:p>
          <a:p>
            <a:pPr>
              <a:spcAft>
                <a:spcPts val="300"/>
              </a:spcAft>
              <a:defRPr sz="900">
                <a:solidFill>
                  <a:srgbClr val="E8F4F8"/>
                </a:solidFill>
                <a:latin typeface="Microsoft YaHei"/>
              </a:defRPr>
            </a:pPr>
            <a:r>
              <a:t>不能证明: SmallCNN 无法达更高精确率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880360"/>
            <a:ext cx="8412480" cy="320040"/>
          </a:xfrm>
          <a:prstGeom prst="roundRect">
            <a:avLst/>
          </a:prstGeom>
          <a:solidFill>
            <a:srgbClr val="2D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案例 3: Pretrained ResNet18 -- 无失败 (合成数据上)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461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E8F4F8"/>
                </a:solidFill>
                <a:latin typeface="Microsoft YaHei"/>
              </a:defRPr>
            </a:pPr>
            <a:r>
              <a:t>结果: 40/40 正确, 0 漏检, 0 误报, 100% 准确率</a:t>
            </a:r>
          </a:p>
          <a:p>
            <a:pPr>
              <a:spcAft>
                <a:spcPts val="300"/>
              </a:spcAft>
              <a:defRPr sz="900">
                <a:solidFill>
                  <a:srgbClr val="E8F4F8"/>
                </a:solidFill>
                <a:latin typeface="Microsoft YaHei"/>
              </a:defRPr>
            </a:pPr>
            <a:r>
              <a:t>关键: 冻结骨干后仅训练 1,026 参数 (FC 层)</a:t>
            </a:r>
          </a:p>
          <a:p>
            <a:pPr>
              <a:spcAft>
                <a:spcPts val="300"/>
              </a:spcAft>
              <a:defRPr sz="900">
                <a:solidFill>
                  <a:srgbClr val="E8F4F8"/>
                </a:solidFill>
                <a:latin typeface="Microsoft YaHei"/>
              </a:defRPr>
            </a:pPr>
            <a:r>
              <a:t>ImageNet 预训练特征已含边缘/纹理/形状</a:t>
            </a:r>
          </a:p>
          <a:p>
            <a:pPr>
              <a:spcAft>
                <a:spcPts val="300"/>
              </a:spcAft>
              <a:defRPr sz="900">
                <a:solidFill>
                  <a:srgbClr val="E8F4F8"/>
                </a:solidFill>
                <a:latin typeface="Microsoft YaHei"/>
              </a:defRPr>
            </a:pPr>
            <a:r>
              <a:t>不能从合成数据 100% 推断真实表现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2461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A02D"/>
                </a:solidFill>
                <a:latin typeface="Microsoft YaHei"/>
              </a:defRPr>
            </a:pPr>
            <a:r>
              <a:t>SmallCNN 误报案例</a:t>
            </a:r>
          </a:p>
        </p:txBody>
      </p:sp>
      <p:pic>
        <p:nvPicPr>
          <p:cNvPr id="11" name="Picture 10" descr="error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672266"/>
            <a:ext cx="3200400" cy="7936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Microsoft YaHei"/>
              </a:defRPr>
            </a:pPr>
            <a:r>
              <a:t>限制、下一步与结论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40080"/>
            <a:ext cx="4023360" cy="320040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产品与伦理边界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1295C"/>
                </a:solidFill>
                <a:latin typeface="Microsoft YaHei"/>
              </a:defRPr>
            </a:pPr>
            <a:r>
              <a:t>初筛工具, 非结构安全鉴定</a:t>
            </a:r>
          </a:p>
          <a:p>
            <a:pPr>
              <a:spcAft>
                <a:spcPts val="300"/>
              </a:spcAft>
              <a:defRPr sz="1000">
                <a:solidFill>
                  <a:srgbClr val="21295C"/>
                </a:solidFill>
                <a:latin typeface="Microsoft YaHei"/>
              </a:defRPr>
            </a:pPr>
            <a:r>
              <a:t>不能替代现场检查或工程师判断</a:t>
            </a:r>
          </a:p>
          <a:p>
            <a:pPr>
              <a:spcAft>
                <a:spcPts val="300"/>
              </a:spcAft>
              <a:defRPr sz="1000">
                <a:solidFill>
                  <a:srgbClr val="21295C"/>
                </a:solidFill>
                <a:latin typeface="Microsoft YaHei"/>
              </a:defRPr>
            </a:pPr>
            <a:r>
              <a:t>模型输出不能作为安全决策依据</a:t>
            </a:r>
          </a:p>
          <a:p>
            <a:pPr>
              <a:spcAft>
                <a:spcPts val="300"/>
              </a:spcAft>
              <a:defRPr sz="1000">
                <a:solidFill>
                  <a:srgbClr val="21295C"/>
                </a:solidFill>
                <a:latin typeface="Microsoft YaHei"/>
              </a:defRPr>
            </a:pPr>
            <a:r>
              <a:t>所有照片最终都需人工复核</a:t>
            </a:r>
          </a:p>
          <a:p>
            <a:pPr>
              <a:spcAft>
                <a:spcPts val="300"/>
              </a:spcAft>
              <a:defRPr sz="1000">
                <a:solidFill>
                  <a:srgbClr val="21295C"/>
                </a:solidFill>
                <a:latin typeface="Microsoft YaHei"/>
              </a:defRPr>
            </a:pPr>
            <a:endParaRPr/>
          </a:p>
          <a:p>
            <a:pPr>
              <a:spcAft>
                <a:spcPts val="300"/>
              </a:spcAft>
              <a:defRPr sz="1000">
                <a:solidFill>
                  <a:srgbClr val="21295C"/>
                </a:solidFill>
                <a:latin typeface="Microsoft YaHei"/>
              </a:defRPr>
            </a:pPr>
            <a:r>
              <a:t>合成数据结果不能推断真实表现</a:t>
            </a:r>
          </a:p>
          <a:p>
            <a:pPr>
              <a:spcAft>
                <a:spcPts val="300"/>
              </a:spcAft>
              <a:defRPr sz="1000">
                <a:solidFill>
                  <a:srgbClr val="21295C"/>
                </a:solidFill>
                <a:latin typeface="Microsoft YaHei"/>
              </a:defRPr>
            </a:pPr>
            <a:r>
              <a:t>真实混凝土图像多样性远高于合成</a:t>
            </a:r>
          </a:p>
          <a:p>
            <a:pPr>
              <a:spcAft>
                <a:spcPts val="300"/>
              </a:spcAft>
              <a:defRPr sz="1000">
                <a:solidFill>
                  <a:srgbClr val="21295C"/>
                </a:solidFill>
                <a:latin typeface="Microsoft YaHei"/>
              </a:defRPr>
            </a:pPr>
            <a:r>
              <a:t>感知哈希只能检测视觉重复, 非全部过拟合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640080"/>
            <a:ext cx="4023360" cy="32004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下一步最小改进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00584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1295C"/>
                </a:solidFill>
                <a:latin typeface="Microsoft YaHei"/>
              </a:defRPr>
            </a:pPr>
            <a:r>
              <a:t>1. 使用真实 Kaggle 数据运行获得最终结果</a:t>
            </a:r>
          </a:p>
          <a:p>
            <a:pPr>
              <a:spcAft>
                <a:spcPts val="300"/>
              </a:spcAft>
              <a:defRPr sz="1000">
                <a:solidFill>
                  <a:srgbClr val="21295C"/>
                </a:solidFill>
                <a:latin typeface="Microsoft YaHei"/>
              </a:defRPr>
            </a:pPr>
            <a:r>
              <a:t>2. 解冻 ResNet18 全部层端到端微调</a:t>
            </a:r>
          </a:p>
          <a:p>
            <a:pPr>
              <a:spcAft>
                <a:spcPts val="300"/>
              </a:spcAft>
              <a:defRPr sz="1000">
                <a:solidFill>
                  <a:srgbClr val="21295C"/>
                </a:solidFill>
                <a:latin typeface="Microsoft YaHei"/>
              </a:defRPr>
            </a:pPr>
            <a:r>
              <a:t>   (freeze_backbone=False)</a:t>
            </a:r>
          </a:p>
          <a:p>
            <a:pPr>
              <a:spcAft>
                <a:spcPts val="300"/>
              </a:spcAft>
              <a:defRPr sz="1000">
                <a:solidFill>
                  <a:srgbClr val="21295C"/>
                </a:solidFill>
                <a:latin typeface="Microsoft YaHei"/>
              </a:defRPr>
            </a:pPr>
            <a:r>
              <a:t>3. 调整分类阈值: 降低阈值提高召回率</a:t>
            </a:r>
          </a:p>
          <a:p>
            <a:pPr>
              <a:spcAft>
                <a:spcPts val="300"/>
              </a:spcAft>
              <a:defRPr sz="1000">
                <a:solidFill>
                  <a:srgbClr val="21295C"/>
                </a:solidFill>
                <a:latin typeface="Microsoft YaHei"/>
              </a:defRPr>
            </a:pPr>
            <a:r>
              <a:t>   代价是增加误报</a:t>
            </a:r>
          </a:p>
          <a:p>
            <a:pPr>
              <a:spcAft>
                <a:spcPts val="300"/>
              </a:spcAft>
              <a:defRPr sz="1000">
                <a:solidFill>
                  <a:srgbClr val="21295C"/>
                </a:solidFill>
                <a:latin typeface="Microsoft YaHei"/>
              </a:defRPr>
            </a:pPr>
            <a:r>
              <a:t>4. 增加数据增强: 颜色抖动, 弹性变形</a:t>
            </a:r>
          </a:p>
          <a:p>
            <a:pPr>
              <a:spcAft>
                <a:spcPts val="300"/>
              </a:spcAft>
              <a:defRPr sz="1000">
                <a:solidFill>
                  <a:srgbClr val="21295C"/>
                </a:solidFill>
                <a:latin typeface="Microsoft YaHei"/>
              </a:defRPr>
            </a:pPr>
            <a:r>
              <a:t>5. 对比更深网络: ResNet50 / EfficientNet</a:t>
            </a:r>
          </a:p>
          <a:p>
            <a:pPr>
              <a:spcAft>
                <a:spcPts val="300"/>
              </a:spcAft>
              <a:defRPr sz="1000">
                <a:solidFill>
                  <a:srgbClr val="21295C"/>
                </a:solidFill>
                <a:latin typeface="Microsoft YaHei"/>
              </a:defRPr>
            </a:pPr>
            <a:r>
              <a:t>6. 运行完整超参数搜索 (不加 --no-hp)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017520"/>
            <a:ext cx="8412480" cy="146304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核心结论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8F4F8"/>
                </a:solidFill>
                <a:latin typeface="Microsoft YaHei"/>
              </a:defRPr>
            </a:pPr>
            <a:r>
              <a:t>FCNet 39.6M 参数但无空间感知 -&gt; 小数据集上完全失败, 证明全连接不适合图像任务</a:t>
            </a:r>
          </a:p>
          <a:p>
            <a:pPr>
              <a:spcAft>
                <a:spcPts val="300"/>
              </a:spcAft>
              <a:defRPr sz="1000">
                <a:solidFill>
                  <a:srgbClr val="E8F4F8"/>
                </a:solidFill>
                <a:latin typeface="Microsoft YaHei"/>
              </a:defRPr>
            </a:pPr>
            <a:r>
              <a:t>SmallCNN 6.4M 参数 + 卷积权重共享 -&gt; 召回率 100% 但 20 张误报, CNN 结构优于 FCNet</a:t>
            </a:r>
          </a:p>
          <a:p>
            <a:pPr>
              <a:spcAft>
                <a:spcPts val="300"/>
              </a:spcAft>
              <a:defRPr sz="1000">
                <a:solidFill>
                  <a:srgbClr val="E8F4F8"/>
                </a:solidFill>
                <a:latin typeface="Microsoft YaHei"/>
              </a:defRPr>
            </a:pPr>
            <a:r>
              <a:t>Pretrained ResNet18 仅 1,026 可训练参数 -&gt; 迁移学习在有限数据下实现性能突破 (100% 准确率)</a:t>
            </a:r>
          </a:p>
          <a:p>
            <a:pPr>
              <a:spcAft>
                <a:spcPts val="300"/>
              </a:spcAft>
              <a:defRPr sz="1000">
                <a:solidFill>
                  <a:srgbClr val="E8F4F8"/>
                </a:solidFill>
                <a:latin typeface="Microsoft YaHei"/>
              </a:defRPr>
            </a:pPr>
            <a:r>
              <a:t>证据支持的最小结论: 迁移学习 &gt; 从头训练 CNN &gt; 全连接网络 &gt; 多数类基线 (须用真实数据验证)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6344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5A82"/>
                </a:solidFill>
                <a:latin typeface="Microsoft YaHei"/>
              </a:defRPr>
            </a:pPr>
            <a:r>
              <a:rPr dirty="0" err="1"/>
              <a:t>谢谢</a:t>
            </a:r>
            <a:r>
              <a:rPr dirty="0"/>
              <a:t>! 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endParaRPr lang="zh-CN" sz="1600" dirty="0">
              <a:solidFill>
                <a:srgbClr val="808080">
                  <a:alpha val="19999"/>
                </a:srgbClr>
              </a:solidFill>
              <a:latin typeface="Arial"/>
              <a:ea typeface="SimSu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734</Words>
  <Application>Microsoft Office PowerPoint</Application>
  <PresentationFormat>全屏显示(16:9)</PresentationFormat>
  <Paragraphs>187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徐梓朔</dc:creator>
  <cp:keywords/>
  <dc:description>generated using python-pptx</dc:description>
  <cp:lastModifiedBy>梓朔 徐</cp:lastModifiedBy>
  <cp:revision>2</cp:revision>
  <dcterms:created xsi:type="dcterms:W3CDTF">2013-01-27T09:14:16Z</dcterms:created>
  <dcterms:modified xsi:type="dcterms:W3CDTF">2026-08-19T17:05:10Z</dcterms:modified>
  <cp:category/>
</cp:coreProperties>
</file>